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Crimson Pro SemiBold" panose="020B0604020202020204" charset="0"/>
      <p:regular r:id="rId12"/>
    </p:embeddedFont>
    <p:embeddedFont>
      <p:font typeface="Heebo" pitchFamily="2" charset="-79"/>
      <p:regular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8698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pic>
        <p:nvPicPr>
          <p:cNvPr id="3" name="Image 1" descr="preencoded.png"/>
          <p:cNvPicPr>
            <a:picLocks noChangeAspect="1"/>
          </p:cNvPicPr>
          <p:nvPr/>
        </p:nvPicPr>
        <p:blipFill>
          <a:blip r:embed="rId4"/>
          <a:stretch>
            <a:fillRect/>
          </a:stretch>
        </p:blipFill>
        <p:spPr>
          <a:xfrm>
            <a:off x="7714362" y="2110383"/>
            <a:ext cx="4382779" cy="2637135"/>
          </a:xfrm>
          <a:prstGeom prst="rect">
            <a:avLst/>
          </a:prstGeom>
        </p:spPr>
      </p:pic>
      <p:sp>
        <p:nvSpPr>
          <p:cNvPr id="4" name="Text 0"/>
          <p:cNvSpPr/>
          <p:nvPr/>
        </p:nvSpPr>
        <p:spPr>
          <a:xfrm>
            <a:off x="661475" y="2302136"/>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Car Price Prediction Using Linear Regression</a:t>
            </a:r>
            <a:endParaRPr lang="en-US" sz="3700" dirty="0"/>
          </a:p>
        </p:txBody>
      </p:sp>
      <p:sp>
        <p:nvSpPr>
          <p:cNvPr id="5" name="Text 1"/>
          <p:cNvSpPr/>
          <p:nvPr/>
        </p:nvSpPr>
        <p:spPr>
          <a:xfrm>
            <a:off x="661475" y="3752652"/>
            <a:ext cx="6296860" cy="817463"/>
          </a:xfrm>
          <a:prstGeom prst="rect">
            <a:avLst/>
          </a:prstGeom>
          <a:noFill/>
          <a:ln/>
        </p:spPr>
        <p:txBody>
          <a:bodyPr wrap="square" lIns="0" tIns="0" rIns="0" bIns="0" rtlCol="0" anchor="t"/>
          <a:lstStyle/>
          <a:p>
            <a:pPr marL="0" indent="0" algn="l">
              <a:lnSpc>
                <a:spcPct val="133000"/>
              </a:lnSpc>
              <a:spcAft>
                <a:spcPts val="1650"/>
              </a:spcAft>
              <a:buNone/>
            </a:pPr>
            <a:r>
              <a:rPr lang="en-US" sz="1450" dirty="0">
                <a:solidFill>
                  <a:srgbClr val="4C4C4D"/>
                </a:solidFill>
                <a:latin typeface="Heebo" pitchFamily="34" charset="0"/>
                <a:ea typeface="Heebo" pitchFamily="34" charset="-122"/>
                <a:cs typeface="Heebo" pitchFamily="34" charset="-120"/>
              </a:rPr>
              <a:t>Project category: Machine Learning</a:t>
            </a:r>
            <a:endParaRPr lang="en-US" sz="1450" dirty="0"/>
          </a:p>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[Rohan Kavade]</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pic>
        <p:nvPicPr>
          <p:cNvPr id="3" name="Image 1" descr="preencoded.png"/>
          <p:cNvPicPr>
            <a:picLocks noChangeAspect="1"/>
          </p:cNvPicPr>
          <p:nvPr/>
        </p:nvPicPr>
        <p:blipFill>
          <a:blip r:embed="rId4"/>
          <a:stretch>
            <a:fillRect/>
          </a:stretch>
        </p:blipFill>
        <p:spPr>
          <a:xfrm>
            <a:off x="94553" y="2199580"/>
            <a:ext cx="4382779" cy="2458740"/>
          </a:xfrm>
          <a:prstGeom prst="rect">
            <a:avLst/>
          </a:prstGeom>
        </p:spPr>
      </p:pic>
      <p:sp>
        <p:nvSpPr>
          <p:cNvPr id="4" name="Text 0"/>
          <p:cNvSpPr/>
          <p:nvPr/>
        </p:nvSpPr>
        <p:spPr>
          <a:xfrm>
            <a:off x="5233360" y="2197527"/>
            <a:ext cx="6296860" cy="472480"/>
          </a:xfrm>
          <a:prstGeom prst="rect">
            <a:avLst/>
          </a:prstGeom>
          <a:noFill/>
          <a:ln/>
        </p:spPr>
        <p:txBody>
          <a:bodyPr wrap="none" lIns="0" tIns="0" rIns="0" bIns="0" rtlCol="0" anchor="t"/>
          <a:lstStyle/>
          <a:p>
            <a:pPr marL="0" indent="0" algn="l">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Problem Statement &amp; Objective</a:t>
            </a:r>
            <a:endParaRPr lang="en-US" sz="2950" dirty="0"/>
          </a:p>
        </p:txBody>
      </p:sp>
      <p:sp>
        <p:nvSpPr>
          <p:cNvPr id="5" name="Text 1"/>
          <p:cNvSpPr/>
          <p:nvPr/>
        </p:nvSpPr>
        <p:spPr>
          <a:xfrm>
            <a:off x="5233360" y="2944614"/>
            <a:ext cx="6296860" cy="1724720"/>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4C4C4D"/>
                </a:solidFill>
                <a:latin typeface="Heebo" pitchFamily="34" charset="0"/>
                <a:ea typeface="Heebo" pitchFamily="34" charset="-122"/>
                <a:cs typeface="Heebo" pitchFamily="34" charset="-120"/>
              </a:rPr>
              <a:t>Problem: Predict the resale selling price of used cars from their attributes to help sellers and buyers estimate fair market values.</a:t>
            </a:r>
            <a:endParaRPr lang="en-US" sz="1450" dirty="0"/>
          </a:p>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Objective: Build a linear regression model that uses car features (manufacturer, model, year, category, fuel type, engine volume, mileage, cylinders, gearbox, airbags, etc.) to predict the target variable: Price.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pic>
        <p:nvPicPr>
          <p:cNvPr id="3" name="Image 1" descr="preencoded.png"/>
          <p:cNvPicPr>
            <a:picLocks noChangeAspect="1"/>
          </p:cNvPicPr>
          <p:nvPr/>
        </p:nvPicPr>
        <p:blipFill>
          <a:blip r:embed="rId4"/>
          <a:stretch>
            <a:fillRect/>
          </a:stretch>
        </p:blipFill>
        <p:spPr>
          <a:xfrm>
            <a:off x="8377192" y="2543092"/>
            <a:ext cx="3153333" cy="1771816"/>
          </a:xfrm>
          <a:prstGeom prst="rect">
            <a:avLst/>
          </a:prstGeom>
        </p:spPr>
      </p:pic>
      <p:sp>
        <p:nvSpPr>
          <p:cNvPr id="4" name="Text 0"/>
          <p:cNvSpPr/>
          <p:nvPr/>
        </p:nvSpPr>
        <p:spPr>
          <a:xfrm>
            <a:off x="661475" y="1939955"/>
            <a:ext cx="6296860" cy="472480"/>
          </a:xfrm>
          <a:prstGeom prst="rect">
            <a:avLst/>
          </a:prstGeom>
          <a:noFill/>
          <a:ln/>
        </p:spPr>
        <p:txBody>
          <a:bodyPr wrap="none" lIns="0" tIns="0" rIns="0" bIns="0" rtlCol="0" anchor="t"/>
          <a:lstStyle/>
          <a:p>
            <a:pPr marL="0" indent="0" algn="l">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Dataset Description</a:t>
            </a:r>
            <a:endParaRPr lang="en-US" sz="2950" dirty="0"/>
          </a:p>
        </p:txBody>
      </p:sp>
      <p:sp>
        <p:nvSpPr>
          <p:cNvPr id="5" name="Text 1"/>
          <p:cNvSpPr/>
          <p:nvPr/>
        </p:nvSpPr>
        <p:spPr>
          <a:xfrm>
            <a:off x="661475" y="2687042"/>
            <a:ext cx="6296860" cy="2239764"/>
          </a:xfrm>
          <a:prstGeom prst="rect">
            <a:avLst/>
          </a:prstGeom>
          <a:noFill/>
          <a:ln/>
        </p:spPr>
        <p:txBody>
          <a:bodyPr wrap="square" lIns="0" tIns="0" rIns="0" bIns="0" rtlCol="0" anchor="t"/>
          <a:lstStyle/>
          <a:p>
            <a:pPr marL="0" indent="0" algn="l">
              <a:lnSpc>
                <a:spcPct val="133000"/>
              </a:lnSpc>
              <a:spcAft>
                <a:spcPts val="1650"/>
              </a:spcAft>
              <a:buNone/>
            </a:pPr>
            <a:r>
              <a:rPr lang="en-US" sz="1450" dirty="0">
                <a:solidFill>
                  <a:srgbClr val="4C4C4D"/>
                </a:solidFill>
                <a:latin typeface="Heebo" pitchFamily="34" charset="0"/>
                <a:ea typeface="Heebo" pitchFamily="34" charset="-122"/>
                <a:cs typeface="Heebo" pitchFamily="34" charset="-120"/>
              </a:rPr>
              <a:t>Dataset size: 19,237 rows and 18 columns.</a:t>
            </a:r>
            <a:endParaRPr lang="en-US" sz="1450" dirty="0"/>
          </a:p>
          <a:p>
            <a:pPr marL="0" indent="0" algn="l">
              <a:lnSpc>
                <a:spcPct val="133000"/>
              </a:lnSpc>
              <a:spcAft>
                <a:spcPts val="1650"/>
              </a:spcAft>
              <a:buNone/>
            </a:pPr>
            <a:r>
              <a:rPr lang="en-US" sz="1450" dirty="0">
                <a:solidFill>
                  <a:srgbClr val="4C4C4D"/>
                </a:solidFill>
                <a:latin typeface="Heebo" pitchFamily="34" charset="0"/>
                <a:ea typeface="Heebo" pitchFamily="34" charset="-122"/>
                <a:cs typeface="Heebo" pitchFamily="34" charset="-120"/>
              </a:rPr>
              <a:t>Target column: Price</a:t>
            </a:r>
            <a:endParaRPr lang="en-US" sz="1450" dirty="0"/>
          </a:p>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Key features (as listed in project document): manufacturer, model, production year, category, fuel type, engine volume, mileage, cylinders, gearbox type, airbags, color, seats, registration status, horsepower, drive type, and other listed car attributes (total 18 columns).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1646932"/>
            <a:ext cx="4637269" cy="3091557"/>
          </a:xfrm>
          <a:prstGeom prst="rect">
            <a:avLst/>
          </a:prstGeom>
        </p:spPr>
      </p:pic>
      <p:sp>
        <p:nvSpPr>
          <p:cNvPr id="3" name="Text 0"/>
          <p:cNvSpPr/>
          <p:nvPr/>
        </p:nvSpPr>
        <p:spPr>
          <a:xfrm>
            <a:off x="5766251" y="1524328"/>
            <a:ext cx="5770220" cy="472480"/>
          </a:xfrm>
          <a:prstGeom prst="rect">
            <a:avLst/>
          </a:prstGeom>
          <a:noFill/>
          <a:ln/>
        </p:spPr>
        <p:txBody>
          <a:bodyPr wrap="none" lIns="0" tIns="0" rIns="0" bIns="0" rtlCol="0" anchor="t"/>
          <a:lstStyle/>
          <a:p>
            <a:pPr marL="0" indent="0" algn="l">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Data Preprocessing</a:t>
            </a:r>
            <a:endParaRPr lang="en-US" sz="2950" dirty="0"/>
          </a:p>
        </p:txBody>
      </p:sp>
      <p:sp>
        <p:nvSpPr>
          <p:cNvPr id="4" name="Text 1"/>
          <p:cNvSpPr/>
          <p:nvPr/>
        </p:nvSpPr>
        <p:spPr>
          <a:xfrm>
            <a:off x="5766251" y="2176959"/>
            <a:ext cx="5770220" cy="328850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Load dataset and inspect shape and column types.</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Check and handle missing values: imputed or removed where appropriate.</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Convert Mileage, Fuel Type, and Airbags into numeric formats (e.g., parse "km" values, map fuel categories, map airbags counts).</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Encode remaining categorical features (manufacturer, model, gearbox, category) using appropriate techniques (one-hot or target encoding as in notebook).</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Split data into training and testing sets (80% train / 20% test).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070104"/>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Exploratory Data Analysis (EDA)</a:t>
            </a:r>
            <a:endParaRPr lang="en-US" sz="2950" dirty="0"/>
          </a:p>
        </p:txBody>
      </p:sp>
      <p:sp>
        <p:nvSpPr>
          <p:cNvPr id="6" name="Text 3"/>
          <p:cNvSpPr/>
          <p:nvPr/>
        </p:nvSpPr>
        <p:spPr>
          <a:xfrm>
            <a:off x="661475" y="3058418"/>
            <a:ext cx="2539936"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Price Distribution</a:t>
            </a:r>
            <a:endParaRPr lang="en-US" sz="1850" dirty="0"/>
          </a:p>
        </p:txBody>
      </p:sp>
      <p:sp>
        <p:nvSpPr>
          <p:cNvPr id="7" name="Text 4"/>
          <p:cNvSpPr/>
          <p:nvPr/>
        </p:nvSpPr>
        <p:spPr>
          <a:xfrm>
            <a:off x="661475" y="3467100"/>
            <a:ext cx="2539936"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Histogram shows distribution shape (skewness and common price ranges). See notebook output for exact bin counts.</a:t>
            </a:r>
            <a:endParaRPr lang="en-US" sz="1450" dirty="0"/>
          </a:p>
        </p:txBody>
      </p:sp>
      <p:sp>
        <p:nvSpPr>
          <p:cNvPr id="11" name="Text 7"/>
          <p:cNvSpPr/>
          <p:nvPr/>
        </p:nvSpPr>
        <p:spPr>
          <a:xfrm>
            <a:off x="3437645" y="3058418"/>
            <a:ext cx="2540036"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Mileage vs Price</a:t>
            </a:r>
            <a:endParaRPr lang="en-US" sz="1850" dirty="0"/>
          </a:p>
        </p:txBody>
      </p:sp>
      <p:sp>
        <p:nvSpPr>
          <p:cNvPr id="12" name="Text 8"/>
          <p:cNvSpPr/>
          <p:nvPr/>
        </p:nvSpPr>
        <p:spPr>
          <a:xfrm>
            <a:off x="3437645" y="3467100"/>
            <a:ext cx="2540036"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Scatter plot visualises negative relationship between mileage and price; individual variance visible. Refer to notebook plot for details.</a:t>
            </a:r>
            <a:endParaRPr lang="en-US" sz="1450" dirty="0"/>
          </a:p>
        </p:txBody>
      </p:sp>
      <p:sp>
        <p:nvSpPr>
          <p:cNvPr id="16" name="Text 11"/>
          <p:cNvSpPr/>
          <p:nvPr/>
        </p:nvSpPr>
        <p:spPr>
          <a:xfrm>
            <a:off x="6213915" y="3058418"/>
            <a:ext cx="2540036"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Price Boxplot</a:t>
            </a:r>
            <a:endParaRPr lang="en-US" sz="1850" dirty="0"/>
          </a:p>
        </p:txBody>
      </p:sp>
      <p:sp>
        <p:nvSpPr>
          <p:cNvPr id="17" name="Text 12"/>
          <p:cNvSpPr/>
          <p:nvPr/>
        </p:nvSpPr>
        <p:spPr>
          <a:xfrm>
            <a:off x="6213915" y="3467100"/>
            <a:ext cx="2540036"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Boxplot highlights median, IQR, and outliers in price distribution. See notebook for exact quartiles.</a:t>
            </a:r>
            <a:endParaRPr lang="en-US" sz="1450" dirty="0"/>
          </a:p>
        </p:txBody>
      </p:sp>
      <p:pic>
        <p:nvPicPr>
          <p:cNvPr id="18" name="Image 3" descr="preencoded.png"/>
          <p:cNvPicPr>
            <a:picLocks noChangeAspect="1"/>
          </p:cNvPicPr>
          <p:nvPr/>
        </p:nvPicPr>
        <p:blipFill>
          <a:blip r:embed="rId3"/>
          <a:stretch>
            <a:fillRect/>
          </a:stretch>
        </p:blipFill>
        <p:spPr>
          <a:xfrm>
            <a:off x="8990184" y="1911747"/>
            <a:ext cx="1473163" cy="910431"/>
          </a:xfrm>
          <a:prstGeom prst="rect">
            <a:avLst/>
          </a:prstGeom>
        </p:spPr>
      </p:pic>
      <p:sp>
        <p:nvSpPr>
          <p:cNvPr id="19" name="Text 13"/>
          <p:cNvSpPr/>
          <p:nvPr/>
        </p:nvSpPr>
        <p:spPr>
          <a:xfrm>
            <a:off x="8990184" y="3058418"/>
            <a:ext cx="2540036"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Correlation Heatmap</a:t>
            </a:r>
            <a:endParaRPr lang="en-US" sz="1850" dirty="0"/>
          </a:p>
        </p:txBody>
      </p:sp>
      <p:sp>
        <p:nvSpPr>
          <p:cNvPr id="20" name="Text 14"/>
          <p:cNvSpPr/>
          <p:nvPr/>
        </p:nvSpPr>
        <p:spPr>
          <a:xfrm>
            <a:off x="8990184" y="3467100"/>
            <a:ext cx="2540036"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Correlation matrix shows relationships among numeric features (e.g., year, mileage, engine volume). Exact correlation coefficients are in the notebook outputs.</a:t>
            </a:r>
            <a:endParaRPr lang="en-US" sz="1450" dirty="0"/>
          </a:p>
        </p:txBody>
      </p:sp>
      <p:sp>
        <p:nvSpPr>
          <p:cNvPr id="21" name="Text 15"/>
          <p:cNvSpPr/>
          <p:nvPr/>
        </p:nvSpPr>
        <p:spPr>
          <a:xfrm>
            <a:off x="661475" y="5494238"/>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Brief observations: see plots above and the notebook for the computed descriptive statistics and exact numeric outputs.</a:t>
            </a:r>
            <a:endParaRPr lang="en-US" sz="1450" dirty="0"/>
          </a:p>
        </p:txBody>
      </p:sp>
      <p:pic>
        <p:nvPicPr>
          <p:cNvPr id="24" name="Picture 23" descr="Box Plot in Data Science: Uses, Examples &amp; Interpretation">
            <a:extLst>
              <a:ext uri="{FF2B5EF4-FFF2-40B4-BE49-F238E27FC236}">
                <a16:creationId xmlns:a16="http://schemas.microsoft.com/office/drawing/2014/main" id="{966681DD-0602-B3C3-4A5D-1B36EEC2B2B6}"/>
              </a:ext>
            </a:extLst>
          </p:cNvPr>
          <p:cNvPicPr>
            <a:picLocks noChangeAspect="1"/>
          </p:cNvPicPr>
          <p:nvPr/>
        </p:nvPicPr>
        <p:blipFill>
          <a:blip r:embed="rId4"/>
          <a:stretch>
            <a:fillRect/>
          </a:stretch>
        </p:blipFill>
        <p:spPr>
          <a:xfrm>
            <a:off x="6213916" y="1911747"/>
            <a:ext cx="1473164" cy="910432"/>
          </a:xfrm>
          <a:prstGeom prst="rect">
            <a:avLst/>
          </a:prstGeom>
        </p:spPr>
      </p:pic>
      <p:pic>
        <p:nvPicPr>
          <p:cNvPr id="25" name="Picture 24" descr="Fuel Economy – MPG vs. GPM » The Calculating Investor">
            <a:extLst>
              <a:ext uri="{FF2B5EF4-FFF2-40B4-BE49-F238E27FC236}">
                <a16:creationId xmlns:a16="http://schemas.microsoft.com/office/drawing/2014/main" id="{03953B57-0A52-998F-C385-C9CD22FF5C95}"/>
              </a:ext>
            </a:extLst>
          </p:cNvPr>
          <p:cNvPicPr>
            <a:picLocks noChangeAspect="1"/>
          </p:cNvPicPr>
          <p:nvPr/>
        </p:nvPicPr>
        <p:blipFill>
          <a:blip r:embed="rId5"/>
          <a:stretch>
            <a:fillRect/>
          </a:stretch>
        </p:blipFill>
        <p:spPr>
          <a:xfrm>
            <a:off x="3237176" y="1911745"/>
            <a:ext cx="1473164" cy="910433"/>
          </a:xfrm>
          <a:prstGeom prst="rect">
            <a:avLst/>
          </a:prstGeom>
        </p:spPr>
      </p:pic>
      <p:pic>
        <p:nvPicPr>
          <p:cNvPr id="26" name="Picture 25" descr="Average price distribution | Download Scientific Diagram">
            <a:extLst>
              <a:ext uri="{FF2B5EF4-FFF2-40B4-BE49-F238E27FC236}">
                <a16:creationId xmlns:a16="http://schemas.microsoft.com/office/drawing/2014/main" id="{3D24609B-3B21-C578-6E37-5592A6F2F1AA}"/>
              </a:ext>
            </a:extLst>
          </p:cNvPr>
          <p:cNvPicPr>
            <a:picLocks noChangeAspect="1"/>
          </p:cNvPicPr>
          <p:nvPr/>
        </p:nvPicPr>
        <p:blipFill>
          <a:blip r:embed="rId6"/>
          <a:stretch>
            <a:fillRect/>
          </a:stretch>
        </p:blipFill>
        <p:spPr>
          <a:xfrm>
            <a:off x="700867" y="1893455"/>
            <a:ext cx="1745774" cy="9104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pic>
        <p:nvPicPr>
          <p:cNvPr id="3" name="Image 1" descr="preencoded.png"/>
          <p:cNvPicPr>
            <a:picLocks noChangeAspect="1"/>
          </p:cNvPicPr>
          <p:nvPr/>
        </p:nvPicPr>
        <p:blipFill>
          <a:blip r:embed="rId4"/>
          <a:stretch>
            <a:fillRect/>
          </a:stretch>
        </p:blipFill>
        <p:spPr>
          <a:xfrm>
            <a:off x="7880153" y="1905000"/>
            <a:ext cx="4051199" cy="3048000"/>
          </a:xfrm>
          <a:prstGeom prst="rect">
            <a:avLst/>
          </a:prstGeom>
        </p:spPr>
      </p:pic>
      <p:sp>
        <p:nvSpPr>
          <p:cNvPr id="4" name="Text 0"/>
          <p:cNvSpPr/>
          <p:nvPr/>
        </p:nvSpPr>
        <p:spPr>
          <a:xfrm>
            <a:off x="661475" y="1191151"/>
            <a:ext cx="6296860" cy="472480"/>
          </a:xfrm>
          <a:prstGeom prst="rect">
            <a:avLst/>
          </a:prstGeom>
          <a:noFill/>
          <a:ln/>
        </p:spPr>
        <p:txBody>
          <a:bodyPr wrap="none" lIns="0" tIns="0" rIns="0" bIns="0" rtlCol="0" anchor="t"/>
          <a:lstStyle/>
          <a:p>
            <a:pPr marL="0" indent="0" algn="l">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Linear Regression Model</a:t>
            </a:r>
            <a:endParaRPr lang="en-US" sz="2950" dirty="0"/>
          </a:p>
        </p:txBody>
      </p:sp>
      <p:sp>
        <p:nvSpPr>
          <p:cNvPr id="5" name="Text 1"/>
          <p:cNvSpPr/>
          <p:nvPr/>
        </p:nvSpPr>
        <p:spPr>
          <a:xfrm>
            <a:off x="661475" y="1938238"/>
            <a:ext cx="6296860"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Model: Ordinary Least Squares linear regression predicting Price from selected independent variables.</a:t>
            </a:r>
            <a:endParaRPr lang="en-US" sz="1450" dirty="0"/>
          </a:p>
        </p:txBody>
      </p:sp>
      <p:sp>
        <p:nvSpPr>
          <p:cNvPr id="6" name="Text 2"/>
          <p:cNvSpPr/>
          <p:nvPr/>
        </p:nvSpPr>
        <p:spPr>
          <a:xfrm>
            <a:off x="661475" y="2755702"/>
            <a:ext cx="6296860" cy="2920008"/>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Independent variables: encoded features including production year, mileage, engine volume, cylinders, fuel type encoding, gearbox type, manufacturer/model encodings, airbags, and other numeric encodings used in the notebook.</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Target variable: Price.</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Data split: 80% training set, 20% testing set (as performed in the notebook).</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Training: model fit on training data and used to predict prices on test set.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82754"/>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Model Evaluation</a:t>
            </a:r>
            <a:endParaRPr lang="en-US" sz="2950" dirty="0"/>
          </a:p>
        </p:txBody>
      </p:sp>
      <p:sp>
        <p:nvSpPr>
          <p:cNvPr id="3" name="Text 1"/>
          <p:cNvSpPr/>
          <p:nvPr/>
        </p:nvSpPr>
        <p:spPr>
          <a:xfrm>
            <a:off x="661475" y="1524397"/>
            <a:ext cx="1086874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The table below shows evaluation metrics computed on the test set using the actual notebook outputs. If any metric outputs were not available from your notebook runs, the corresponding cell below is left as a clear placeholder to fill from your executed results.</a:t>
            </a:r>
            <a:endParaRPr lang="en-US" sz="1450" dirty="0"/>
          </a:p>
        </p:txBody>
      </p:sp>
      <p:graphicFrame>
        <p:nvGraphicFramePr>
          <p:cNvPr id="8" name="Table 0"/>
          <p:cNvGraphicFramePr>
            <a:graphicFrameLocks noGrp="1"/>
          </p:cNvGraphicFramePr>
          <p:nvPr>
            <p:extLst>
              <p:ext uri="{D42A27DB-BD31-4B8C-83A1-F6EECF244321}">
                <p14:modId xmlns:p14="http://schemas.microsoft.com/office/powerpoint/2010/main" val="893407368"/>
              </p:ext>
            </p:extLst>
          </p:nvPr>
        </p:nvGraphicFramePr>
        <p:xfrm>
          <a:off x="661475" y="2644279"/>
          <a:ext cx="10868745" cy="2709595"/>
        </p:xfrm>
        <a:graphic>
          <a:graphicData uri="http://schemas.openxmlformats.org/drawingml/2006/table">
            <a:tbl>
              <a:tblPr/>
              <a:tblGrid>
                <a:gridCol w="4347518">
                  <a:extLst>
                    <a:ext uri="{9D8B030D-6E8A-4147-A177-3AD203B41FA5}">
                      <a16:colId xmlns:a16="http://schemas.microsoft.com/office/drawing/2014/main" val="20000"/>
                    </a:ext>
                  </a:extLst>
                </a:gridCol>
                <a:gridCol w="6521227">
                  <a:extLst>
                    <a:ext uri="{9D8B030D-6E8A-4147-A177-3AD203B41FA5}">
                      <a16:colId xmlns:a16="http://schemas.microsoft.com/office/drawing/2014/main" val="20001"/>
                    </a:ext>
                  </a:extLst>
                </a:gridCol>
              </a:tblGrid>
              <a:tr h="541919">
                <a:tc>
                  <a:txBody>
                    <a:bodyPr/>
                    <a:lstStyle/>
                    <a:p>
                      <a:pPr marL="0" indent="0" algn="l">
                        <a:buNone/>
                      </a:pPr>
                      <a:r>
                        <a:rPr lang="en-US" sz="1450" b="1" dirty="0">
                          <a:solidFill>
                            <a:srgbClr val="FFFFFF"/>
                          </a:solidFill>
                          <a:latin typeface="Heebo" pitchFamily="34" charset="0"/>
                          <a:ea typeface="Heebo" pitchFamily="34" charset="-122"/>
                          <a:cs typeface="Heebo" pitchFamily="34" charset="-120"/>
                        </a:rPr>
                        <a:t>Metric</a:t>
                      </a:r>
                      <a:endParaRPr lang="en-US" sz="1450" dirty="0">
                        <a:latin typeface="Heebo" charset="0"/>
                        <a:ea typeface="Heebo" charset="0"/>
                        <a:cs typeface="Heebo" charset="0"/>
                      </a:endParaRPr>
                    </a:p>
                  </a:txBody>
                  <a:tcPr marL="189018" marR="189018" marT="6350" marB="6350" anchor="ctr">
                    <a:lnL w="12700" cap="flat" cmpd="sng" algn="ctr">
                      <a:solidFill>
                        <a:srgbClr val="D8D4D4"/>
                      </a:solidFill>
                      <a:prstDash val="solid"/>
                      <a:round/>
                      <a:headEnd type="none" w="med" len="med"/>
                      <a:tailEnd type="none" w="med" len="med"/>
                    </a:lnL>
                    <a:lnR w="12700" cap="flat" cmpd="sng" algn="ctr">
                      <a:solidFill>
                        <a:srgbClr val="2150FE"/>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2150FE"/>
                      </a:solidFill>
                      <a:prstDash val="solid"/>
                      <a:round/>
                      <a:headEnd type="none" w="med" len="med"/>
                      <a:tailEnd type="none" w="med" len="med"/>
                    </a:lnB>
                    <a:solidFill>
                      <a:srgbClr val="2150FE"/>
                    </a:solidFill>
                  </a:tcPr>
                </a:tc>
                <a:tc>
                  <a:txBody>
                    <a:bodyPr/>
                    <a:lstStyle/>
                    <a:p>
                      <a:pPr marL="0" indent="0" algn="l">
                        <a:buNone/>
                      </a:pPr>
                      <a:r>
                        <a:rPr lang="en-US" sz="1450" b="1" dirty="0">
                          <a:solidFill>
                            <a:srgbClr val="FFFFFF"/>
                          </a:solidFill>
                          <a:latin typeface="Heebo" pitchFamily="34" charset="0"/>
                          <a:ea typeface="Heebo" pitchFamily="34" charset="-122"/>
                          <a:cs typeface="Heebo" pitchFamily="34" charset="-120"/>
                        </a:rPr>
                        <a:t>Value (test set)</a:t>
                      </a:r>
                      <a:endParaRPr lang="en-US" sz="1450" dirty="0">
                        <a:latin typeface="Heebo" charset="0"/>
                        <a:ea typeface="Heebo" charset="0"/>
                        <a:cs typeface="Heebo" charset="0"/>
                      </a:endParaRPr>
                    </a:p>
                  </a:txBody>
                  <a:tcPr marL="189018" marR="189018" marT="6350" marB="6350" anchor="ctr">
                    <a:lnL w="12700" cap="flat" cmpd="sng" algn="ctr">
                      <a:solidFill>
                        <a:srgbClr val="2150FE"/>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2150FE"/>
                      </a:solidFill>
                      <a:prstDash val="solid"/>
                      <a:round/>
                      <a:headEnd type="none" w="med" len="med"/>
                      <a:tailEnd type="none" w="med" len="med"/>
                    </a:lnB>
                    <a:solidFill>
                      <a:srgbClr val="2150FE"/>
                    </a:solidFill>
                  </a:tcPr>
                </a:tc>
                <a:extLst>
                  <a:ext uri="{0D108BD9-81ED-4DB2-BD59-A6C34878D82A}">
                    <a16:rowId xmlns:a16="http://schemas.microsoft.com/office/drawing/2014/main" val="10000"/>
                  </a:ext>
                </a:extLst>
              </a:tr>
              <a:tr h="541919">
                <a:tc>
                  <a:txBody>
                    <a:bodyPr/>
                    <a:lstStyle/>
                    <a:p>
                      <a:pPr marL="0" indent="0" algn="l">
                        <a:buNone/>
                      </a:pPr>
                      <a:r>
                        <a:rPr lang="en-US" sz="1450" dirty="0">
                          <a:solidFill>
                            <a:srgbClr val="4C4C4D"/>
                          </a:solidFill>
                          <a:latin typeface="Heebo" pitchFamily="34" charset="0"/>
                          <a:ea typeface="Heebo" pitchFamily="34" charset="-122"/>
                          <a:cs typeface="Heebo" pitchFamily="34" charset="-120"/>
                        </a:rPr>
                        <a:t>R² Score</a:t>
                      </a:r>
                      <a:endParaRPr lang="en-US" sz="1450" dirty="0">
                        <a:latin typeface="Heebo" charset="0"/>
                        <a:ea typeface="Heebo" charset="0"/>
                        <a:cs typeface="Heebo" charset="0"/>
                      </a:endParaRPr>
                    </a:p>
                  </a:txBody>
                  <a:tcPr marL="189018" marR="189018"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2150FE"/>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IN" sz="1800" b="0" i="0" kern="1200" dirty="0">
                          <a:solidFill>
                            <a:schemeClr val="tx1"/>
                          </a:solidFill>
                          <a:effectLst/>
                          <a:latin typeface="+mn-lt"/>
                          <a:ea typeface="+mn-ea"/>
                          <a:cs typeface="+mn-cs"/>
                        </a:rPr>
                        <a:t>-0.012</a:t>
                      </a:r>
                      <a:endParaRPr lang="en-US" sz="1450" dirty="0">
                        <a:latin typeface="Heebo" charset="0"/>
                        <a:ea typeface="Heebo" charset="0"/>
                        <a:cs typeface="Heebo" charset="0"/>
                      </a:endParaRPr>
                    </a:p>
                  </a:txBody>
                  <a:tcPr marL="189018" marR="189018"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2150FE"/>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1"/>
                  </a:ext>
                </a:extLst>
              </a:tr>
              <a:tr h="541919">
                <a:tc>
                  <a:txBody>
                    <a:bodyPr/>
                    <a:lstStyle/>
                    <a:p>
                      <a:pPr marL="0" indent="0" algn="l">
                        <a:buNone/>
                      </a:pPr>
                      <a:r>
                        <a:rPr lang="en-US" sz="1450" dirty="0">
                          <a:solidFill>
                            <a:srgbClr val="4C4C4D"/>
                          </a:solidFill>
                          <a:latin typeface="Heebo" pitchFamily="34" charset="0"/>
                          <a:ea typeface="Heebo" pitchFamily="34" charset="-122"/>
                          <a:cs typeface="Heebo" pitchFamily="34" charset="-120"/>
                        </a:rPr>
                        <a:t>Mean Absolute Error (MAE)</a:t>
                      </a:r>
                      <a:endParaRPr lang="en-US" sz="1450" dirty="0">
                        <a:latin typeface="Heebo" charset="0"/>
                        <a:ea typeface="Heebo" charset="0"/>
                        <a:cs typeface="Heebo" charset="0"/>
                      </a:endParaRPr>
                    </a:p>
                  </a:txBody>
                  <a:tcPr marL="189018" marR="189018"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IN" sz="1800" b="0" i="0" kern="1200" dirty="0">
                          <a:solidFill>
                            <a:schemeClr val="tx1"/>
                          </a:solidFill>
                          <a:effectLst/>
                          <a:latin typeface="+mn-lt"/>
                          <a:ea typeface="+mn-ea"/>
                          <a:cs typeface="+mn-cs"/>
                        </a:rPr>
                        <a:t>12525.922</a:t>
                      </a:r>
                      <a:endParaRPr lang="en-US" sz="1450" dirty="0">
                        <a:latin typeface="Heebo" charset="0"/>
                        <a:ea typeface="Heebo" charset="0"/>
                        <a:cs typeface="Heebo" charset="0"/>
                      </a:endParaRPr>
                    </a:p>
                  </a:txBody>
                  <a:tcPr marL="189018" marR="189018"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2"/>
                  </a:ext>
                </a:extLst>
              </a:tr>
              <a:tr h="541919">
                <a:tc>
                  <a:txBody>
                    <a:bodyPr/>
                    <a:lstStyle/>
                    <a:p>
                      <a:pPr marL="0" indent="0" algn="l">
                        <a:buNone/>
                      </a:pPr>
                      <a:r>
                        <a:rPr lang="en-US" sz="1450" dirty="0">
                          <a:solidFill>
                            <a:srgbClr val="4C4C4D"/>
                          </a:solidFill>
                          <a:latin typeface="Heebo" pitchFamily="34" charset="0"/>
                          <a:ea typeface="Heebo" pitchFamily="34" charset="-122"/>
                          <a:cs typeface="Heebo" pitchFamily="34" charset="-120"/>
                        </a:rPr>
                        <a:t>Mean Squared Error (MSE)</a:t>
                      </a:r>
                      <a:endParaRPr lang="en-US" sz="1450" dirty="0">
                        <a:latin typeface="Heebo" charset="0"/>
                        <a:ea typeface="Heebo" charset="0"/>
                        <a:cs typeface="Heebo" charset="0"/>
                      </a:endParaRPr>
                    </a:p>
                  </a:txBody>
                  <a:tcPr marL="189018" marR="189018"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IN" sz="1800" b="0" i="0" kern="1200" dirty="0">
                          <a:solidFill>
                            <a:schemeClr val="tx1"/>
                          </a:solidFill>
                          <a:effectLst/>
                          <a:latin typeface="+mn-lt"/>
                          <a:ea typeface="+mn-ea"/>
                          <a:cs typeface="+mn-cs"/>
                        </a:rPr>
                        <a:t>315385890.010</a:t>
                      </a:r>
                      <a:endParaRPr lang="en-US" sz="1450" dirty="0">
                        <a:latin typeface="Heebo" charset="0"/>
                        <a:ea typeface="Heebo" charset="0"/>
                        <a:cs typeface="Heebo" charset="0"/>
                      </a:endParaRPr>
                    </a:p>
                  </a:txBody>
                  <a:tcPr marL="189018" marR="189018"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3"/>
                  </a:ext>
                </a:extLst>
              </a:tr>
              <a:tr h="541919">
                <a:tc>
                  <a:txBody>
                    <a:bodyPr/>
                    <a:lstStyle/>
                    <a:p>
                      <a:pPr marL="0" indent="0" algn="l">
                        <a:buNone/>
                      </a:pPr>
                      <a:r>
                        <a:rPr lang="en-US" sz="1450" dirty="0">
                          <a:solidFill>
                            <a:srgbClr val="4C4C4D"/>
                          </a:solidFill>
                          <a:latin typeface="Heebo" pitchFamily="34" charset="0"/>
                          <a:ea typeface="Heebo" pitchFamily="34" charset="-122"/>
                          <a:cs typeface="Heebo" pitchFamily="34" charset="-120"/>
                        </a:rPr>
                        <a:t>Root Mean Squared Error (RMSE)</a:t>
                      </a:r>
                      <a:endParaRPr lang="en-US" sz="1450" dirty="0">
                        <a:latin typeface="Heebo" charset="0"/>
                        <a:ea typeface="Heebo" charset="0"/>
                        <a:cs typeface="Heebo" charset="0"/>
                      </a:endParaRPr>
                    </a:p>
                  </a:txBody>
                  <a:tcPr marL="189018" marR="189018"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FFFFFF">
                        <a:alpha val="4000"/>
                      </a:srgbClr>
                    </a:solidFill>
                  </a:tcPr>
                </a:tc>
                <a:tc>
                  <a:txBody>
                    <a:bodyPr/>
                    <a:lstStyle/>
                    <a:p>
                      <a:pPr marL="0" indent="0" algn="l">
                        <a:buNone/>
                      </a:pPr>
                      <a:r>
                        <a:rPr lang="en-IN" sz="1800" b="0" i="0" kern="1200" dirty="0">
                          <a:solidFill>
                            <a:schemeClr val="tx1"/>
                          </a:solidFill>
                          <a:effectLst/>
                          <a:latin typeface="+mn-lt"/>
                          <a:ea typeface="+mn-ea"/>
                          <a:cs typeface="+mn-cs"/>
                        </a:rPr>
                        <a:t>17759.107</a:t>
                      </a:r>
                      <a:endParaRPr lang="en-US" sz="1450" dirty="0">
                        <a:latin typeface="Heebo" charset="0"/>
                        <a:ea typeface="Heebo" charset="0"/>
                        <a:cs typeface="Heebo" charset="0"/>
                      </a:endParaRPr>
                    </a:p>
                  </a:txBody>
                  <a:tcPr marL="189018" marR="189018"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745133"/>
            <a:ext cx="3698782" cy="4931767"/>
          </a:xfrm>
          <a:prstGeom prst="rect">
            <a:avLst/>
          </a:prstGeom>
        </p:spPr>
      </p:pic>
      <p:sp>
        <p:nvSpPr>
          <p:cNvPr id="3" name="Text 0"/>
          <p:cNvSpPr/>
          <p:nvPr/>
        </p:nvSpPr>
        <p:spPr>
          <a:xfrm>
            <a:off x="5756528" y="2139763"/>
            <a:ext cx="5779943" cy="450453"/>
          </a:xfrm>
          <a:prstGeom prst="rect">
            <a:avLst/>
          </a:prstGeom>
          <a:noFill/>
          <a:ln/>
        </p:spPr>
        <p:txBody>
          <a:bodyPr wrap="none" lIns="0" tIns="0" rIns="0" bIns="0" rtlCol="0" anchor="t"/>
          <a:lstStyle/>
          <a:p>
            <a:pPr marL="0" indent="0" algn="l">
              <a:lnSpc>
                <a:spcPct val="104000"/>
              </a:lnSpc>
              <a:buNone/>
            </a:pPr>
            <a:r>
              <a:rPr lang="en-US" sz="2800" dirty="0">
                <a:solidFill>
                  <a:srgbClr val="152D47"/>
                </a:solidFill>
                <a:latin typeface="Crimson Pro SemiBold" pitchFamily="34" charset="0"/>
                <a:ea typeface="Crimson Pro SemiBold" pitchFamily="34" charset="-122"/>
                <a:cs typeface="Crimson Pro SemiBold" pitchFamily="34" charset="-120"/>
              </a:rPr>
              <a:t>Evaluation Notes</a:t>
            </a:r>
            <a:endParaRPr lang="en-US" sz="2800" dirty="0"/>
          </a:p>
        </p:txBody>
      </p:sp>
      <p:sp>
        <p:nvSpPr>
          <p:cNvPr id="4" name="Text 1"/>
          <p:cNvSpPr/>
          <p:nvPr/>
        </p:nvSpPr>
        <p:spPr>
          <a:xfrm>
            <a:off x="5756528" y="2750641"/>
            <a:ext cx="5779943" cy="2090440"/>
          </a:xfrm>
          <a:prstGeom prst="rect">
            <a:avLst/>
          </a:prstGeom>
          <a:noFill/>
          <a:ln/>
        </p:spPr>
        <p:txBody>
          <a:bodyPr wrap="square" lIns="0" tIns="0" rIns="0" bIns="0" rtlCol="0" anchor="t">
            <a:normAutofit/>
          </a:bodyPr>
          <a:lstStyle/>
          <a:p>
            <a:pPr marL="284480" indent="-284480" algn="l">
              <a:lnSpc>
                <a:spcPct val="130000"/>
              </a:lnSpc>
              <a:buSzPct val="100000"/>
              <a:buChar char="•"/>
            </a:pPr>
            <a:r>
              <a:rPr lang="en-US" sz="1400" dirty="0">
                <a:solidFill>
                  <a:srgbClr val="4C4C4D"/>
                </a:solidFill>
                <a:latin typeface="Heebo" pitchFamily="34" charset="0"/>
                <a:ea typeface="Heebo" pitchFamily="34" charset="-122"/>
                <a:cs typeface="Heebo" pitchFamily="34" charset="-120"/>
              </a:rPr>
              <a:t>Residual analysis: inspect residuals vs predicted to check homoscedasticity and outliers .</a:t>
            </a:r>
          </a:p>
          <a:p>
            <a:pPr marL="284480" indent="-284480" algn="l">
              <a:lnSpc>
                <a:spcPct val="130000"/>
              </a:lnSpc>
              <a:buSzPct val="100000"/>
              <a:buChar char="•"/>
            </a:pPr>
            <a:r>
              <a:rPr lang="en-US" sz="1400" dirty="0">
                <a:solidFill>
                  <a:srgbClr val="4C4C4D"/>
                </a:solidFill>
                <a:latin typeface="Heebo" pitchFamily="34" charset="0"/>
                <a:ea typeface="Heebo" pitchFamily="34" charset="-122"/>
                <a:cs typeface="Heebo" pitchFamily="34" charset="-120"/>
              </a:rPr>
              <a:t>Model assumptions: linearity, independence, homoscedasticity, and normality of residuals should be assessed using the provided plots and statistics.</a:t>
            </a:r>
            <a:endParaRPr lang="en-US" sz="1400" dirty="0"/>
          </a:p>
          <a:p>
            <a:pPr marL="284480" indent="-284480" algn="l">
              <a:lnSpc>
                <a:spcPct val="130000"/>
              </a:lnSpc>
              <a:buSzPct val="100000"/>
              <a:buChar char="•"/>
            </a:pPr>
            <a:r>
              <a:rPr lang="en-US" sz="1400" dirty="0">
                <a:solidFill>
                  <a:srgbClr val="4C4C4D"/>
                </a:solidFill>
                <a:latin typeface="Heebo" pitchFamily="34" charset="0"/>
                <a:ea typeface="Heebo" pitchFamily="34" charset="-122"/>
                <a:cs typeface="Heebo" pitchFamily="34" charset="-120"/>
              </a:rPr>
              <a:t>Interpretation: R² indicates proportion of variance explained; MAE/MSE/RMSE quantify average prediction error in the price units.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pic>
        <p:nvPicPr>
          <p:cNvPr id="3" name="Image 1" descr="preencoded.png"/>
          <p:cNvPicPr>
            <a:picLocks noChangeAspect="1"/>
          </p:cNvPicPr>
          <p:nvPr/>
        </p:nvPicPr>
        <p:blipFill>
          <a:blip r:embed="rId4"/>
          <a:stretch>
            <a:fillRect/>
          </a:stretch>
        </p:blipFill>
        <p:spPr>
          <a:xfrm>
            <a:off x="8270668" y="2197100"/>
            <a:ext cx="3270168" cy="2463800"/>
          </a:xfrm>
          <a:prstGeom prst="rect">
            <a:avLst/>
          </a:prstGeom>
        </p:spPr>
      </p:pic>
      <p:sp>
        <p:nvSpPr>
          <p:cNvPr id="4" name="Text 0"/>
          <p:cNvSpPr/>
          <p:nvPr/>
        </p:nvSpPr>
        <p:spPr>
          <a:xfrm>
            <a:off x="661475" y="1183908"/>
            <a:ext cx="6296860" cy="472480"/>
          </a:xfrm>
          <a:prstGeom prst="rect">
            <a:avLst/>
          </a:prstGeom>
          <a:noFill/>
          <a:ln/>
        </p:spPr>
        <p:txBody>
          <a:bodyPr wrap="none" lIns="0" tIns="0" rIns="0" bIns="0" rtlCol="0" anchor="t"/>
          <a:lstStyle/>
          <a:p>
            <a:pPr marL="0" indent="0" algn="l">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Conclusion</a:t>
            </a:r>
            <a:endParaRPr lang="en-US" sz="2950" dirty="0"/>
          </a:p>
        </p:txBody>
      </p:sp>
      <p:sp>
        <p:nvSpPr>
          <p:cNvPr id="5" name="Text 1"/>
          <p:cNvSpPr/>
          <p:nvPr/>
        </p:nvSpPr>
        <p:spPr>
          <a:xfrm>
            <a:off x="661475" y="1930995"/>
            <a:ext cx="6296860" cy="3751858"/>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4C4C4D"/>
                </a:solidFill>
                <a:latin typeface="Heebo" pitchFamily="34" charset="0"/>
                <a:ea typeface="Heebo" pitchFamily="34" charset="-122"/>
                <a:cs typeface="Heebo" pitchFamily="34" charset="-120"/>
              </a:rPr>
              <a:t>Workflow summary: data loading → preprocessing and encoding → exploratory analysis → feature selection → train/test split → linear regression training → evaluation on test set.</a:t>
            </a:r>
            <a:endParaRPr lang="en-US" sz="1450" dirty="0"/>
          </a:p>
          <a:p>
            <a:pPr marL="0" indent="0" algn="l">
              <a:lnSpc>
                <a:spcPct val="133000"/>
              </a:lnSpc>
              <a:spcAft>
                <a:spcPts val="1650"/>
              </a:spcAft>
              <a:buNone/>
            </a:pPr>
            <a:r>
              <a:rPr lang="en-US" sz="1450" dirty="0">
                <a:solidFill>
                  <a:srgbClr val="4C4C4D"/>
                </a:solidFill>
                <a:latin typeface="Heebo" pitchFamily="34" charset="0"/>
                <a:ea typeface="Heebo" pitchFamily="34" charset="-122"/>
                <a:cs typeface="Heebo" pitchFamily="34" charset="-120"/>
              </a:rPr>
              <a:t>Model performance: See the Model Evaluation table for exact metrics computed from your notebook. Use those numbers to state how well the model predicts car prices.</a:t>
            </a:r>
            <a:endParaRPr lang="en-US" sz="1450" dirty="0"/>
          </a:p>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Possible improvements (based on project scope): careful feature engineering, outlier handling, more sophisticated encoding for manufacturer/model, and trying regularised linear models — these are suggestions only; do not add or run additional algorithms beyond the scope.</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721</Words>
  <Application>Microsoft Office PowerPoint</Application>
  <PresentationFormat>Widescreen</PresentationFormat>
  <Paragraphs>61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Crimson Pro SemiBold</vt:lpstr>
      <vt:lpstr>Arial</vt:lpstr>
      <vt:lpstr>Heebo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ROHAN KAVADE</cp:lastModifiedBy>
  <cp:revision>4</cp:revision>
  <dcterms:created xsi:type="dcterms:W3CDTF">2026-10-13T18:33:05Z</dcterms:created>
  <dcterms:modified xsi:type="dcterms:W3CDTF">2026-10-14T05:56:40Z</dcterms:modified>
</cp:coreProperties>
</file>